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Aileron" panose="020B0604020202020204" charset="0"/>
      <p:regular r:id="rId14"/>
    </p:embeddedFont>
    <p:embeddedFont>
      <p:font typeface="Aileron Bold" panose="020B0604020202020204" charset="0"/>
      <p:regular r:id="rId15"/>
    </p:embeddedFont>
    <p:embeddedFont>
      <p:font typeface="Open Sans" panose="020B0606030504020204" pitchFamily="34" charset="0"/>
      <p:regular r:id="rId16"/>
    </p:embeddedFont>
    <p:embeddedFont>
      <p:font typeface="Poppins" panose="00000500000000000000" pitchFamily="2" charset="0"/>
      <p:regular r:id="rId17"/>
    </p:embeddedFont>
    <p:embeddedFont>
      <p:font typeface="Poppins Bold" panose="00000800000000000000" charset="0"/>
      <p:regular r:id="rId18"/>
    </p:embeddedFont>
    <p:embeddedFont>
      <p:font typeface="Poppins Semi-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7053F-BFF6-48D9-840F-9C2BC7A5C2FF}" v="1" dt="2026-01-17T15:45:22.8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792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jawada jayanth" userId="3942d2096c492cb3" providerId="LiveId" clId="{F4DE6A4D-15C2-4AE0-84D8-7170F2E42F81}"/>
    <pc:docChg chg="custSel modSld">
      <pc:chgData name="gajawada jayanth" userId="3942d2096c492cb3" providerId="LiveId" clId="{F4DE6A4D-15C2-4AE0-84D8-7170F2E42F81}" dt="2026-01-17T15:45:28.453" v="3" actId="1076"/>
      <pc:docMkLst>
        <pc:docMk/>
      </pc:docMkLst>
      <pc:sldChg chg="addSp delSp modSp mod">
        <pc:chgData name="gajawada jayanth" userId="3942d2096c492cb3" providerId="LiveId" clId="{F4DE6A4D-15C2-4AE0-84D8-7170F2E42F81}" dt="2026-01-17T15:45:28.453" v="3" actId="1076"/>
        <pc:sldMkLst>
          <pc:docMk/>
          <pc:sldMk cId="0" sldId="261"/>
        </pc:sldMkLst>
        <pc:picChg chg="add mod">
          <ac:chgData name="gajawada jayanth" userId="3942d2096c492cb3" providerId="LiveId" clId="{F4DE6A4D-15C2-4AE0-84D8-7170F2E42F81}" dt="2026-01-17T15:45:28.453" v="3" actId="1076"/>
          <ac:picMkLst>
            <pc:docMk/>
            <pc:sldMk cId="0" sldId="261"/>
            <ac:picMk id="6" creationId="{97234F7B-E8B3-08CA-D94F-D235296C93FF}"/>
          </ac:picMkLst>
        </pc:picChg>
        <pc:picChg chg="del">
          <ac:chgData name="gajawada jayanth" userId="3942d2096c492cb3" providerId="LiveId" clId="{F4DE6A4D-15C2-4AE0-84D8-7170F2E42F81}" dt="2026-01-17T15:45:21.719" v="0" actId="478"/>
          <ac:picMkLst>
            <pc:docMk/>
            <pc:sldMk cId="0" sldId="261"/>
            <ac:picMk id="7" creationId="{83A8BF90-B923-A3D5-EF98-D65D8D3B939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1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11" Type="http://schemas.openxmlformats.org/officeDocument/2006/relationships/image" Target="../media/image6.svg"/><Relationship Id="rId5" Type="http://schemas.openxmlformats.org/officeDocument/2006/relationships/image" Target="../media/image14.svg"/><Relationship Id="rId10" Type="http://schemas.openxmlformats.org/officeDocument/2006/relationships/image" Target="../media/image5.png"/><Relationship Id="rId4" Type="http://schemas.openxmlformats.org/officeDocument/2006/relationships/image" Target="../media/image13.png"/><Relationship Id="rId9" Type="http://schemas.openxmlformats.org/officeDocument/2006/relationships/image" Target="../media/image10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8.svg"/><Relationship Id="rId5" Type="http://schemas.openxmlformats.org/officeDocument/2006/relationships/image" Target="../media/image10.svg"/><Relationship Id="rId10" Type="http://schemas.openxmlformats.org/officeDocument/2006/relationships/image" Target="../media/image17.png"/><Relationship Id="rId4" Type="http://schemas.openxmlformats.org/officeDocument/2006/relationships/image" Target="../media/image9.png"/><Relationship Id="rId9" Type="http://schemas.openxmlformats.org/officeDocument/2006/relationships/image" Target="../media/image12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4.svg"/><Relationship Id="rId3" Type="http://schemas.openxmlformats.org/officeDocument/2006/relationships/image" Target="../media/image2.svg"/><Relationship Id="rId7" Type="http://schemas.openxmlformats.org/officeDocument/2006/relationships/image" Target="../media/image22.svg"/><Relationship Id="rId12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11" Type="http://schemas.openxmlformats.org/officeDocument/2006/relationships/image" Target="../media/image10.svg"/><Relationship Id="rId5" Type="http://schemas.openxmlformats.org/officeDocument/2006/relationships/image" Target="../media/image20.svg"/><Relationship Id="rId10" Type="http://schemas.openxmlformats.org/officeDocument/2006/relationships/image" Target="../media/image9.png"/><Relationship Id="rId4" Type="http://schemas.openxmlformats.org/officeDocument/2006/relationships/image" Target="../media/image19.png"/><Relationship Id="rId9" Type="http://schemas.openxmlformats.org/officeDocument/2006/relationships/image" Target="../media/image6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7.sv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9.svg"/><Relationship Id="rId7" Type="http://schemas.openxmlformats.org/officeDocument/2006/relationships/image" Target="../media/image2.svg"/><Relationship Id="rId12" Type="http://schemas.openxmlformats.org/officeDocument/2006/relationships/image" Target="../media/image6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image" Target="../media/image31.svg"/><Relationship Id="rId10" Type="http://schemas.openxmlformats.org/officeDocument/2006/relationships/image" Target="../media/image10.svg"/><Relationship Id="rId4" Type="http://schemas.openxmlformats.org/officeDocument/2006/relationships/image" Target="../media/image30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31.svg"/><Relationship Id="rId7" Type="http://schemas.openxmlformats.org/officeDocument/2006/relationships/image" Target="../media/image10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svg"/><Relationship Id="rId10" Type="http://schemas.openxmlformats.org/officeDocument/2006/relationships/image" Target="../media/image33.png"/><Relationship Id="rId4" Type="http://schemas.openxmlformats.org/officeDocument/2006/relationships/image" Target="../media/image1.png"/><Relationship Id="rId9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7.svg"/><Relationship Id="rId10" Type="http://schemas.openxmlformats.org/officeDocument/2006/relationships/image" Target="../media/image11.png"/><Relationship Id="rId4" Type="http://schemas.openxmlformats.org/officeDocument/2006/relationships/image" Target="../media/image26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3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11" Type="http://schemas.openxmlformats.org/officeDocument/2006/relationships/image" Target="../media/image10.svg"/><Relationship Id="rId5" Type="http://schemas.openxmlformats.org/officeDocument/2006/relationships/image" Target="../media/image27.svg"/><Relationship Id="rId10" Type="http://schemas.openxmlformats.org/officeDocument/2006/relationships/image" Target="../media/image9.png"/><Relationship Id="rId4" Type="http://schemas.openxmlformats.org/officeDocument/2006/relationships/image" Target="../media/image26.png"/><Relationship Id="rId9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7.svg"/><Relationship Id="rId7" Type="http://schemas.openxmlformats.org/officeDocument/2006/relationships/image" Target="../media/image37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6.svg"/><Relationship Id="rId5" Type="http://schemas.openxmlformats.org/officeDocument/2006/relationships/image" Target="../media/image2.svg"/><Relationship Id="rId10" Type="http://schemas.openxmlformats.org/officeDocument/2006/relationships/image" Target="../media/image5.pn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6576775">
            <a:off x="-5782488" y="-3075501"/>
            <a:ext cx="18272703" cy="17940472"/>
          </a:xfrm>
          <a:custGeom>
            <a:avLst/>
            <a:gdLst/>
            <a:ahLst/>
            <a:cxnLst/>
            <a:rect l="l" t="t" r="r" b="b"/>
            <a:pathLst>
              <a:path w="18272703" h="17940472">
                <a:moveTo>
                  <a:pt x="0" y="0"/>
                </a:moveTo>
                <a:lnTo>
                  <a:pt x="18272703" y="0"/>
                </a:lnTo>
                <a:lnTo>
                  <a:pt x="18272703" y="17940472"/>
                </a:lnTo>
                <a:lnTo>
                  <a:pt x="0" y="17940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6302134">
            <a:off x="13509748" y="-4275200"/>
            <a:ext cx="8172698" cy="8024104"/>
          </a:xfrm>
          <a:custGeom>
            <a:avLst/>
            <a:gdLst/>
            <a:ahLst/>
            <a:cxnLst/>
            <a:rect l="l" t="t" r="r" b="b"/>
            <a:pathLst>
              <a:path w="8172698" h="8024104">
                <a:moveTo>
                  <a:pt x="0" y="0"/>
                </a:moveTo>
                <a:lnTo>
                  <a:pt x="8172698" y="0"/>
                </a:lnTo>
                <a:lnTo>
                  <a:pt x="8172698" y="8024104"/>
                </a:lnTo>
                <a:lnTo>
                  <a:pt x="0" y="802410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8851018" y="3831136"/>
            <a:ext cx="8408282" cy="5427164"/>
          </a:xfrm>
          <a:custGeom>
            <a:avLst/>
            <a:gdLst/>
            <a:ahLst/>
            <a:cxnLst/>
            <a:rect l="l" t="t" r="r" b="b"/>
            <a:pathLst>
              <a:path w="8408282" h="5427164">
                <a:moveTo>
                  <a:pt x="0" y="0"/>
                </a:moveTo>
                <a:lnTo>
                  <a:pt x="8408282" y="0"/>
                </a:lnTo>
                <a:lnTo>
                  <a:pt x="8408282" y="5427164"/>
                </a:lnTo>
                <a:lnTo>
                  <a:pt x="0" y="54271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6782502">
            <a:off x="-3218386" y="6638745"/>
            <a:ext cx="8172698" cy="8024104"/>
          </a:xfrm>
          <a:custGeom>
            <a:avLst/>
            <a:gdLst/>
            <a:ahLst/>
            <a:cxnLst/>
            <a:rect l="l" t="t" r="r" b="b"/>
            <a:pathLst>
              <a:path w="8172698" h="8024104">
                <a:moveTo>
                  <a:pt x="0" y="0"/>
                </a:moveTo>
                <a:lnTo>
                  <a:pt x="8172698" y="0"/>
                </a:lnTo>
                <a:lnTo>
                  <a:pt x="8172698" y="8024104"/>
                </a:lnTo>
                <a:lnTo>
                  <a:pt x="0" y="80241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38727" y="2219236"/>
            <a:ext cx="10841218" cy="1611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04"/>
              </a:lnSpc>
            </a:pPr>
            <a:r>
              <a:rPr lang="en-US" sz="11392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EcoPackAi</a:t>
            </a:r>
            <a:endParaRPr lang="en-US" sz="11392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67963" y="3764461"/>
            <a:ext cx="7989906" cy="1216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00"/>
              </a:lnSpc>
            </a:pPr>
            <a:r>
              <a:rPr lang="en-US" sz="35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AI-Powered Sustainable Packaging Recommendation System</a:t>
            </a:r>
          </a:p>
        </p:txBody>
      </p:sp>
      <p:sp>
        <p:nvSpPr>
          <p:cNvPr id="8" name="Freeform 8"/>
          <p:cNvSpPr/>
          <p:nvPr/>
        </p:nvSpPr>
        <p:spPr>
          <a:xfrm>
            <a:off x="8600858" y="1219719"/>
            <a:ext cx="3618053" cy="838606"/>
          </a:xfrm>
          <a:custGeom>
            <a:avLst/>
            <a:gdLst/>
            <a:ahLst/>
            <a:cxnLst/>
            <a:rect l="l" t="t" r="r" b="b"/>
            <a:pathLst>
              <a:path w="3618053" h="838606">
                <a:moveTo>
                  <a:pt x="0" y="0"/>
                </a:moveTo>
                <a:lnTo>
                  <a:pt x="3618052" y="0"/>
                </a:lnTo>
                <a:lnTo>
                  <a:pt x="3618052" y="838606"/>
                </a:lnTo>
                <a:lnTo>
                  <a:pt x="0" y="83860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232022" y="5647239"/>
            <a:ext cx="2135576" cy="494992"/>
          </a:xfrm>
          <a:custGeom>
            <a:avLst/>
            <a:gdLst/>
            <a:ahLst/>
            <a:cxnLst/>
            <a:rect l="l" t="t" r="r" b="b"/>
            <a:pathLst>
              <a:path w="2135576" h="494992">
                <a:moveTo>
                  <a:pt x="2135576" y="0"/>
                </a:moveTo>
                <a:lnTo>
                  <a:pt x="0" y="0"/>
                </a:lnTo>
                <a:lnTo>
                  <a:pt x="0" y="494992"/>
                </a:lnTo>
                <a:lnTo>
                  <a:pt x="2135576" y="494992"/>
                </a:lnTo>
                <a:lnTo>
                  <a:pt x="2135576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028700" y="6202939"/>
            <a:ext cx="6155444" cy="1225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Mentor Name</a:t>
            </a:r>
            <a:r>
              <a:rPr lang="en-US" sz="3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: G </a:t>
            </a:r>
            <a:r>
              <a:rPr lang="en-US" sz="3500" dirty="0" err="1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Navinash</a:t>
            </a:r>
            <a:endParaRPr lang="en-US" sz="35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4900"/>
              </a:lnSpc>
            </a:pPr>
            <a:r>
              <a:rPr lang="en-US" sz="3500" u="sng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Intern Name </a:t>
            </a:r>
            <a:r>
              <a:rPr lang="en-US" sz="35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 Jayanth 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8229" y="5019758"/>
            <a:ext cx="7702629" cy="524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62"/>
              </a:lnSpc>
              <a:spcBef>
                <a:spcPct val="0"/>
              </a:spcBef>
            </a:pPr>
            <a:r>
              <a:rPr lang="en-US" sz="2973" b="1" spc="273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Internship Project Report | Infosys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7492429" y="-3490476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209960" y="-56266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737673" y="2639745"/>
            <a:ext cx="14962989" cy="166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403"/>
              </a:lnSpc>
            </a:pPr>
            <a:r>
              <a:rPr lang="en-US" sz="3200" dirty="0"/>
              <a:t>Modern businesses face increasing pressure to adopt sustainable packaging solutions while keeping costs under control. Traditional packaging selection relies heavily on manual analysis, supplier catalogs, and trial-and-error approaches</a:t>
            </a:r>
            <a:endParaRPr lang="en-US" sz="3145" dirty="0">
              <a:solidFill>
                <a:srgbClr val="000000"/>
              </a:solidFill>
              <a:ea typeface="Poppins"/>
              <a:cs typeface="Poppins"/>
              <a:sym typeface="Poppins"/>
            </a:endParaRPr>
          </a:p>
        </p:txBody>
      </p:sp>
      <p:sp>
        <p:nvSpPr>
          <p:cNvPr id="5" name="Freeform 5"/>
          <p:cNvSpPr/>
          <p:nvPr/>
        </p:nvSpPr>
        <p:spPr>
          <a:xfrm rot="-6873591">
            <a:off x="-1514196" y="7892067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9"/>
                </a:lnTo>
                <a:lnTo>
                  <a:pt x="0" y="517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5400000">
            <a:off x="16378945" y="8311281"/>
            <a:ext cx="1615503" cy="1894038"/>
          </a:xfrm>
          <a:custGeom>
            <a:avLst/>
            <a:gdLst/>
            <a:ahLst/>
            <a:cxnLst/>
            <a:rect l="l" t="t" r="r" b="b"/>
            <a:pathLst>
              <a:path w="1615503" h="1894038">
                <a:moveTo>
                  <a:pt x="0" y="0"/>
                </a:moveTo>
                <a:lnTo>
                  <a:pt x="1615503" y="0"/>
                </a:lnTo>
                <a:lnTo>
                  <a:pt x="1615503" y="1894038"/>
                </a:lnTo>
                <a:lnTo>
                  <a:pt x="0" y="18940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7" name="Freeform 7"/>
          <p:cNvSpPr/>
          <p:nvPr/>
        </p:nvSpPr>
        <p:spPr>
          <a:xfrm rot="-2490985">
            <a:off x="13701227" y="-4846132"/>
            <a:ext cx="7425961" cy="7549498"/>
          </a:xfrm>
          <a:custGeom>
            <a:avLst/>
            <a:gdLst/>
            <a:ahLst/>
            <a:cxnLst/>
            <a:rect l="l" t="t" r="r" b="b"/>
            <a:pathLst>
              <a:path w="7425961" h="7549498">
                <a:moveTo>
                  <a:pt x="0" y="0"/>
                </a:moveTo>
                <a:lnTo>
                  <a:pt x="7425960" y="0"/>
                </a:lnTo>
                <a:lnTo>
                  <a:pt x="7425960" y="7549498"/>
                </a:lnTo>
                <a:lnTo>
                  <a:pt x="0" y="75494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591310" y="1541186"/>
            <a:ext cx="16892857" cy="567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56"/>
              </a:lnSpc>
            </a:pPr>
            <a:r>
              <a:rPr lang="en-US" sz="4299" b="1" dirty="0">
                <a:solidFill>
                  <a:srgbClr val="000000"/>
                </a:solidFill>
                <a:latin typeface="Poppins Semi-Bold" panose="020B0604020202020204" charset="0"/>
                <a:ea typeface="Poppins Semi-Bold"/>
                <a:cs typeface="Poppins Semi-Bold" panose="020B0604020202020204" charset="0"/>
                <a:sym typeface="Poppins Semi-Bold"/>
              </a:rPr>
              <a:t>Problem Statement: </a:t>
            </a:r>
            <a:r>
              <a:rPr lang="en-IN" sz="4300" dirty="0">
                <a:latin typeface="Poppins Semi-Bold" panose="020B0604020202020204" charset="0"/>
                <a:cs typeface="Poppins Semi-Bold" panose="020B0604020202020204" charset="0"/>
              </a:rPr>
              <a:t>Packaging Sustainability Challenge</a:t>
            </a:r>
            <a:endParaRPr lang="en-US" sz="4300" b="1" dirty="0">
              <a:solidFill>
                <a:srgbClr val="000000"/>
              </a:solidFill>
              <a:latin typeface="Poppins Semi-Bold" panose="020B0604020202020204" charset="0"/>
              <a:ea typeface="Poppins Semi-Bold"/>
              <a:cs typeface="Poppins Semi-Bold" panose="020B0604020202020204" charset="0"/>
              <a:sym typeface="Poppins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97556" y="5456956"/>
            <a:ext cx="15243223" cy="2812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100" dirty="0"/>
              <a:t>This leads to:</a:t>
            </a:r>
          </a:p>
          <a:p>
            <a:r>
              <a:rPr lang="en-US" sz="3100" dirty="0"/>
              <a:t>• Higher operational costs</a:t>
            </a:r>
          </a:p>
          <a:p>
            <a:r>
              <a:rPr lang="en-US" sz="3100" dirty="0"/>
              <a:t>• Environmentally harmful material choices</a:t>
            </a:r>
          </a:p>
          <a:p>
            <a:r>
              <a:rPr lang="en-US" sz="3100" dirty="0"/>
              <a:t>• Lack of standardized sustainability metrics</a:t>
            </a:r>
          </a:p>
          <a:p>
            <a:r>
              <a:rPr lang="en-US" sz="3100" dirty="0"/>
              <a:t>• Poor scalability for large product catalogs</a:t>
            </a:r>
          </a:p>
          <a:p>
            <a:pPr marL="542906" lvl="1" indent="-271453" algn="l">
              <a:lnSpc>
                <a:spcPts val="3520"/>
              </a:lnSpc>
              <a:buFont typeface="Arial"/>
              <a:buChar char="•"/>
            </a:pPr>
            <a:endParaRPr lang="en-US" sz="2514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1725222">
            <a:off x="-1345448" y="-2725149"/>
            <a:ext cx="4069911" cy="4114800"/>
          </a:xfrm>
          <a:custGeom>
            <a:avLst/>
            <a:gdLst/>
            <a:ahLst/>
            <a:cxnLst/>
            <a:rect l="l" t="t" r="r" b="b"/>
            <a:pathLst>
              <a:path w="4069911" h="4114800">
                <a:moveTo>
                  <a:pt x="0" y="0"/>
                </a:moveTo>
                <a:lnTo>
                  <a:pt x="4069911" y="0"/>
                </a:lnTo>
                <a:lnTo>
                  <a:pt x="40699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18377" y="6641209"/>
            <a:ext cx="5720565" cy="4836478"/>
          </a:xfrm>
          <a:custGeom>
            <a:avLst/>
            <a:gdLst/>
            <a:ahLst/>
            <a:cxnLst/>
            <a:rect l="l" t="t" r="r" b="b"/>
            <a:pathLst>
              <a:path w="5720565" h="4836478">
                <a:moveTo>
                  <a:pt x="0" y="0"/>
                </a:moveTo>
                <a:lnTo>
                  <a:pt x="5720566" y="0"/>
                </a:lnTo>
                <a:lnTo>
                  <a:pt x="5720566" y="4836478"/>
                </a:lnTo>
                <a:lnTo>
                  <a:pt x="0" y="48364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18377" y="827538"/>
            <a:ext cx="6167682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57"/>
              </a:lnSpc>
            </a:pPr>
            <a:r>
              <a:rPr lang="en-US" sz="6825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Solution: </a:t>
            </a:r>
            <a:r>
              <a:rPr lang="en-US" sz="6825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EcopackAi</a:t>
            </a:r>
            <a:endParaRPr lang="en-US" sz="6825" b="1" dirty="0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19602" y="2949436"/>
            <a:ext cx="5905123" cy="24622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 err="1"/>
              <a:t>EcoPackAI</a:t>
            </a:r>
            <a:r>
              <a:rPr lang="en-US" sz="3200" dirty="0"/>
              <a:t> is an AI-driven system that analyzes product and packaging parameters to recommend the most suitable packaging material.</a:t>
            </a:r>
          </a:p>
        </p:txBody>
      </p:sp>
      <p:sp>
        <p:nvSpPr>
          <p:cNvPr id="7" name="Freeform 7"/>
          <p:cNvSpPr/>
          <p:nvPr/>
        </p:nvSpPr>
        <p:spPr>
          <a:xfrm rot="4173582">
            <a:off x="16151256" y="-1759251"/>
            <a:ext cx="7063773" cy="7141683"/>
          </a:xfrm>
          <a:custGeom>
            <a:avLst/>
            <a:gdLst/>
            <a:ahLst/>
            <a:cxnLst/>
            <a:rect l="l" t="t" r="r" b="b"/>
            <a:pathLst>
              <a:path w="7063773" h="7141683">
                <a:moveTo>
                  <a:pt x="0" y="0"/>
                </a:moveTo>
                <a:lnTo>
                  <a:pt x="7063773" y="0"/>
                </a:lnTo>
                <a:lnTo>
                  <a:pt x="7063773" y="7141683"/>
                </a:lnTo>
                <a:lnTo>
                  <a:pt x="0" y="7141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768673" y="694188"/>
            <a:ext cx="2886413" cy="669024"/>
          </a:xfrm>
          <a:custGeom>
            <a:avLst/>
            <a:gdLst/>
            <a:ahLst/>
            <a:cxnLst/>
            <a:rect l="l" t="t" r="r" b="b"/>
            <a:pathLst>
              <a:path w="2886413" h="669024">
                <a:moveTo>
                  <a:pt x="0" y="0"/>
                </a:moveTo>
                <a:lnTo>
                  <a:pt x="2886412" y="0"/>
                </a:lnTo>
                <a:lnTo>
                  <a:pt x="2886412" y="669024"/>
                </a:lnTo>
                <a:lnTo>
                  <a:pt x="0" y="6690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Freeform 9"/>
          <p:cNvSpPr/>
          <p:nvPr/>
        </p:nvSpPr>
        <p:spPr>
          <a:xfrm rot="10165423">
            <a:off x="17297969" y="9009641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0" y="0"/>
                </a:moveTo>
                <a:lnTo>
                  <a:pt x="2477320" y="0"/>
                </a:lnTo>
                <a:lnTo>
                  <a:pt x="2477320" y="2904444"/>
                </a:lnTo>
                <a:lnTo>
                  <a:pt x="0" y="290444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284558" y="7916882"/>
            <a:ext cx="9175321" cy="443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60"/>
              </a:lnSpc>
            </a:pPr>
            <a:endParaRPr lang="en-US" sz="244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B94B2B-2195-6ACC-ED51-5DA92C4F5050}"/>
              </a:ext>
            </a:extLst>
          </p:cNvPr>
          <p:cNvSpPr txBox="1"/>
          <p:nvPr/>
        </p:nvSpPr>
        <p:spPr>
          <a:xfrm>
            <a:off x="9683496" y="2911947"/>
            <a:ext cx="5420192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The system predicts:</a:t>
            </a:r>
          </a:p>
          <a:p>
            <a:r>
              <a:rPr lang="en-US" sz="3200" dirty="0"/>
              <a:t>• Estimated packaging cost</a:t>
            </a:r>
          </a:p>
          <a:p>
            <a:r>
              <a:rPr lang="en-US" sz="3200" dirty="0"/>
              <a:t>• Sustainability score</a:t>
            </a:r>
          </a:p>
          <a:p>
            <a:r>
              <a:rPr lang="en-US" sz="3200" dirty="0"/>
              <a:t>• Optimal packaging material type</a:t>
            </a:r>
          </a:p>
          <a:p>
            <a:endParaRPr lang="en-US" sz="3200" dirty="0"/>
          </a:p>
          <a:p>
            <a:r>
              <a:rPr lang="en-US" sz="3200" dirty="0"/>
              <a:t>This enables organizations to make faster, data-driven, and eco-friendly packaging decisions.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8909710" y="-1485889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94208" y="2795114"/>
            <a:ext cx="6157986" cy="5262279"/>
          </a:xfrm>
          <a:custGeom>
            <a:avLst/>
            <a:gdLst/>
            <a:ahLst/>
            <a:cxnLst/>
            <a:rect l="l" t="t" r="r" b="b"/>
            <a:pathLst>
              <a:path w="6157986" h="5262279">
                <a:moveTo>
                  <a:pt x="0" y="0"/>
                </a:moveTo>
                <a:lnTo>
                  <a:pt x="6157986" y="0"/>
                </a:lnTo>
                <a:lnTo>
                  <a:pt x="6157986" y="5262279"/>
                </a:lnTo>
                <a:lnTo>
                  <a:pt x="0" y="5262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6589446" y="-423522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0" y="2904444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5" name="Freeform 5"/>
          <p:cNvSpPr/>
          <p:nvPr/>
        </p:nvSpPr>
        <p:spPr>
          <a:xfrm rot="-6873591">
            <a:off x="16523870" y="8764392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8"/>
                </a:lnTo>
                <a:lnTo>
                  <a:pt x="0" y="51703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913686">
            <a:off x="2669635" y="-3266628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9"/>
                </a:lnTo>
                <a:lnTo>
                  <a:pt x="0" y="51703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299298" y="142756"/>
            <a:ext cx="11835106" cy="2342051"/>
            <a:chOff x="0" y="95251"/>
            <a:chExt cx="15780141" cy="3122733"/>
          </a:xfrm>
        </p:grpSpPr>
        <p:sp>
          <p:nvSpPr>
            <p:cNvPr id="8" name="Freeform 8"/>
            <p:cNvSpPr/>
            <p:nvPr/>
          </p:nvSpPr>
          <p:spPr>
            <a:xfrm>
              <a:off x="1191342" y="327641"/>
              <a:ext cx="683209" cy="1163359"/>
            </a:xfrm>
            <a:custGeom>
              <a:avLst/>
              <a:gdLst/>
              <a:ahLst/>
              <a:cxnLst/>
              <a:rect l="l" t="t" r="r" b="b"/>
              <a:pathLst>
                <a:path w="683209" h="1163359">
                  <a:moveTo>
                    <a:pt x="0" y="0"/>
                  </a:moveTo>
                  <a:lnTo>
                    <a:pt x="683209" y="0"/>
                  </a:lnTo>
                  <a:lnTo>
                    <a:pt x="683209" y="1163358"/>
                  </a:lnTo>
                  <a:lnTo>
                    <a:pt x="0" y="1163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95251"/>
              <a:ext cx="15780141" cy="312273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910"/>
                </a:lnSpc>
              </a:pPr>
              <a:r>
                <a:rPr lang="en-IN" sz="9600" b="1" dirty="0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Machine Learning model</a:t>
              </a:r>
              <a:r>
                <a:rPr lang="en-US" sz="9000" dirty="0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7075538" y="2303140"/>
            <a:ext cx="9591272" cy="4924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core intelligence of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EcoPackAI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powered by supervised machine learning models.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steps include: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preprocessing and normalization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Feature selection based on packaging attributes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training and evaluation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Prediction of cost and sustainability score</a:t>
            </a: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trained model ensures accurate, consistent, and explainable recommendations.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71158" y="-5491136"/>
            <a:ext cx="16688441" cy="18017210"/>
          </a:xfrm>
          <a:custGeom>
            <a:avLst/>
            <a:gdLst/>
            <a:ahLst/>
            <a:cxnLst/>
            <a:rect l="l" t="t" r="r" b="b"/>
            <a:pathLst>
              <a:path w="16688441" h="18017210">
                <a:moveTo>
                  <a:pt x="0" y="0"/>
                </a:moveTo>
                <a:lnTo>
                  <a:pt x="16688441" y="0"/>
                </a:lnTo>
                <a:lnTo>
                  <a:pt x="16688441" y="18017210"/>
                </a:lnTo>
                <a:lnTo>
                  <a:pt x="0" y="18017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28700" y="2656302"/>
            <a:ext cx="6422341" cy="4974395"/>
          </a:xfrm>
          <a:custGeom>
            <a:avLst/>
            <a:gdLst/>
            <a:ahLst/>
            <a:cxnLst/>
            <a:rect l="l" t="t" r="r" b="b"/>
            <a:pathLst>
              <a:path w="6422341" h="4974395">
                <a:moveTo>
                  <a:pt x="0" y="0"/>
                </a:moveTo>
                <a:lnTo>
                  <a:pt x="6422341" y="0"/>
                </a:lnTo>
                <a:lnTo>
                  <a:pt x="6422341" y="4974396"/>
                </a:lnTo>
                <a:lnTo>
                  <a:pt x="0" y="4974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8342093" y="2379232"/>
            <a:ext cx="7306425" cy="2276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25"/>
              </a:lnSpc>
            </a:pPr>
            <a:r>
              <a:rPr lang="en-US" sz="7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ARCHITECTURE DIAGRAM</a:t>
            </a:r>
          </a:p>
        </p:txBody>
      </p:sp>
      <p:sp>
        <p:nvSpPr>
          <p:cNvPr id="6" name="Freeform 6"/>
          <p:cNvSpPr/>
          <p:nvPr/>
        </p:nvSpPr>
        <p:spPr>
          <a:xfrm flipH="1">
            <a:off x="-693056" y="61302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0" y="2904444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4724369" y="8494646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16189315" y="2065247"/>
            <a:ext cx="4197371" cy="972882"/>
          </a:xfrm>
          <a:custGeom>
            <a:avLst/>
            <a:gdLst/>
            <a:ahLst/>
            <a:cxnLst/>
            <a:rect l="l" t="t" r="r" b="b"/>
            <a:pathLst>
              <a:path w="4197371" h="972882">
                <a:moveTo>
                  <a:pt x="0" y="0"/>
                </a:moveTo>
                <a:lnTo>
                  <a:pt x="4197370" y="0"/>
                </a:lnTo>
                <a:lnTo>
                  <a:pt x="4197370" y="972882"/>
                </a:lnTo>
                <a:lnTo>
                  <a:pt x="0" y="97288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144000" y="6946316"/>
            <a:ext cx="4940362" cy="684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9"/>
              </a:lnSpc>
            </a:pPr>
            <a:r>
              <a:rPr lang="en-US" sz="3799" b="1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Next Slide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164516" y="7127195"/>
            <a:ext cx="1040293" cy="436923"/>
          </a:xfrm>
          <a:custGeom>
            <a:avLst/>
            <a:gdLst/>
            <a:ahLst/>
            <a:cxnLst/>
            <a:rect l="l" t="t" r="r" b="b"/>
            <a:pathLst>
              <a:path w="1040293" h="436923">
                <a:moveTo>
                  <a:pt x="0" y="0"/>
                </a:moveTo>
                <a:lnTo>
                  <a:pt x="1040293" y="0"/>
                </a:lnTo>
                <a:lnTo>
                  <a:pt x="1040293" y="436923"/>
                </a:lnTo>
                <a:lnTo>
                  <a:pt x="0" y="436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7492429" y="-3490476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6873591">
            <a:off x="-1514196" y="7892067"/>
            <a:ext cx="5085792" cy="5170399"/>
          </a:xfrm>
          <a:custGeom>
            <a:avLst/>
            <a:gdLst/>
            <a:ahLst/>
            <a:cxnLst/>
            <a:rect l="l" t="t" r="r" b="b"/>
            <a:pathLst>
              <a:path w="5085792" h="5170399">
                <a:moveTo>
                  <a:pt x="0" y="0"/>
                </a:moveTo>
                <a:lnTo>
                  <a:pt x="5085792" y="0"/>
                </a:lnTo>
                <a:lnTo>
                  <a:pt x="5085792" y="5170399"/>
                </a:lnTo>
                <a:lnTo>
                  <a:pt x="0" y="51703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490985">
            <a:off x="13701227" y="-4846132"/>
            <a:ext cx="7425961" cy="7549498"/>
          </a:xfrm>
          <a:custGeom>
            <a:avLst/>
            <a:gdLst/>
            <a:ahLst/>
            <a:cxnLst/>
            <a:rect l="l" t="t" r="r" b="b"/>
            <a:pathLst>
              <a:path w="7425961" h="7549498">
                <a:moveTo>
                  <a:pt x="0" y="0"/>
                </a:moveTo>
                <a:lnTo>
                  <a:pt x="7425960" y="0"/>
                </a:lnTo>
                <a:lnTo>
                  <a:pt x="7425960" y="7549498"/>
                </a:lnTo>
                <a:lnTo>
                  <a:pt x="0" y="75494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234F7B-E8B3-08CA-D94F-D235296C93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800100"/>
            <a:ext cx="14630400" cy="8686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47159">
            <a:off x="15264622" y="5435074"/>
            <a:ext cx="7568009" cy="7744570"/>
          </a:xfrm>
          <a:custGeom>
            <a:avLst/>
            <a:gdLst/>
            <a:ahLst/>
            <a:cxnLst/>
            <a:rect l="l" t="t" r="r" b="b"/>
            <a:pathLst>
              <a:path w="7568009" h="7744570">
                <a:moveTo>
                  <a:pt x="0" y="0"/>
                </a:moveTo>
                <a:lnTo>
                  <a:pt x="7568010" y="0"/>
                </a:lnTo>
                <a:lnTo>
                  <a:pt x="7568010" y="7744570"/>
                </a:lnTo>
                <a:lnTo>
                  <a:pt x="0" y="774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37758" y="297902"/>
            <a:ext cx="9818400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Tech Stack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309586" y="635385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1" y="2904445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5387353" y="1490432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7" name="Freeform 7"/>
          <p:cNvSpPr/>
          <p:nvPr/>
        </p:nvSpPr>
        <p:spPr>
          <a:xfrm rot="-5025802">
            <a:off x="-2450586" y="-1683701"/>
            <a:ext cx="4272851" cy="4343933"/>
          </a:xfrm>
          <a:custGeom>
            <a:avLst/>
            <a:gdLst/>
            <a:ahLst/>
            <a:cxnLst/>
            <a:rect l="l" t="t" r="r" b="b"/>
            <a:pathLst>
              <a:path w="4272851" h="4343933">
                <a:moveTo>
                  <a:pt x="0" y="0"/>
                </a:moveTo>
                <a:lnTo>
                  <a:pt x="4272851" y="0"/>
                </a:lnTo>
                <a:lnTo>
                  <a:pt x="4272851" y="4343933"/>
                </a:lnTo>
                <a:lnTo>
                  <a:pt x="0" y="4343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49577" y="1796059"/>
            <a:ext cx="13988846" cy="64017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b="1" dirty="0"/>
              <a:t>Frontend:</a:t>
            </a:r>
          </a:p>
          <a:p>
            <a:r>
              <a:rPr lang="en-IN" sz="3200" dirty="0"/>
              <a:t>• HTML, CSS, Bootstrap</a:t>
            </a:r>
          </a:p>
          <a:p>
            <a:r>
              <a:rPr lang="en-IN" sz="3200" dirty="0"/>
              <a:t>• Flask templates for dynamic UI</a:t>
            </a:r>
          </a:p>
          <a:p>
            <a:endParaRPr lang="en-IN" sz="3200" dirty="0"/>
          </a:p>
          <a:p>
            <a:r>
              <a:rPr lang="en-IN" sz="3200" b="1" dirty="0"/>
              <a:t>Backend:</a:t>
            </a:r>
          </a:p>
          <a:p>
            <a:r>
              <a:rPr lang="en-IN" sz="3200" dirty="0"/>
              <a:t>• Python (Flask framework)</a:t>
            </a:r>
          </a:p>
          <a:p>
            <a:r>
              <a:rPr lang="en-IN" sz="3200" dirty="0"/>
              <a:t>• Machine Learning models (Random Forest / </a:t>
            </a:r>
            <a:r>
              <a:rPr lang="en-IN" sz="3200" dirty="0" err="1"/>
              <a:t>XGBoost</a:t>
            </a:r>
            <a:r>
              <a:rPr lang="en-IN" sz="3200" dirty="0"/>
              <a:t>)</a:t>
            </a:r>
          </a:p>
          <a:p>
            <a:endParaRPr lang="en-IN" sz="3200" dirty="0"/>
          </a:p>
          <a:p>
            <a:r>
              <a:rPr lang="en-IN" sz="3200" b="1" dirty="0"/>
              <a:t>Database:</a:t>
            </a:r>
          </a:p>
          <a:p>
            <a:r>
              <a:rPr lang="en-IN" sz="3200" dirty="0"/>
              <a:t>• SQLite for user and prediction data</a:t>
            </a:r>
          </a:p>
          <a:p>
            <a:endParaRPr lang="en-IN" sz="3200" dirty="0"/>
          </a:p>
          <a:p>
            <a:r>
              <a:rPr lang="en-IN" sz="3200" b="1" dirty="0"/>
              <a:t>Deployment:</a:t>
            </a:r>
          </a:p>
          <a:p>
            <a:r>
              <a:rPr lang="en-IN" sz="3200" dirty="0"/>
              <a:t>• Cloud-ready architecture (GCP / AWS compatible)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89527" y="5743684"/>
            <a:ext cx="6021263" cy="4543316"/>
          </a:xfrm>
          <a:custGeom>
            <a:avLst/>
            <a:gdLst/>
            <a:ahLst/>
            <a:cxnLst/>
            <a:rect l="l" t="t" r="r" b="b"/>
            <a:pathLst>
              <a:path w="6021263" h="4543316">
                <a:moveTo>
                  <a:pt x="0" y="0"/>
                </a:moveTo>
                <a:lnTo>
                  <a:pt x="6021263" y="0"/>
                </a:lnTo>
                <a:lnTo>
                  <a:pt x="6021263" y="4543316"/>
                </a:lnTo>
                <a:lnTo>
                  <a:pt x="0" y="45433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4196051">
            <a:off x="-5227350" y="-2699679"/>
            <a:ext cx="6897972" cy="6872105"/>
          </a:xfrm>
          <a:custGeom>
            <a:avLst/>
            <a:gdLst/>
            <a:ahLst/>
            <a:cxnLst/>
            <a:rect l="l" t="t" r="r" b="b"/>
            <a:pathLst>
              <a:path w="6897972" h="6872105">
                <a:moveTo>
                  <a:pt x="0" y="0"/>
                </a:moveTo>
                <a:lnTo>
                  <a:pt x="6897972" y="0"/>
                </a:lnTo>
                <a:lnTo>
                  <a:pt x="6897972" y="6872105"/>
                </a:lnTo>
                <a:lnTo>
                  <a:pt x="0" y="6872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06704" y="403951"/>
            <a:ext cx="6822559" cy="81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37"/>
              </a:lnSpc>
            </a:pPr>
            <a:r>
              <a:rPr lang="en-US" sz="61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Impact &amp; Analysis</a:t>
            </a:r>
          </a:p>
        </p:txBody>
      </p:sp>
      <p:sp>
        <p:nvSpPr>
          <p:cNvPr id="5" name="Freeform 5"/>
          <p:cNvSpPr/>
          <p:nvPr/>
        </p:nvSpPr>
        <p:spPr>
          <a:xfrm rot="2234655" flipH="1">
            <a:off x="11742061" y="-2067758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15359470" y="0"/>
                </a:moveTo>
                <a:lnTo>
                  <a:pt x="0" y="0"/>
                </a:lnTo>
                <a:lnTo>
                  <a:pt x="0" y="15080207"/>
                </a:lnTo>
                <a:lnTo>
                  <a:pt x="15359470" y="15080207"/>
                </a:lnTo>
                <a:lnTo>
                  <a:pt x="15359470" y="0"/>
                </a:lnTo>
                <a:close/>
              </a:path>
            </a:pathLst>
          </a:custGeom>
          <a:blipFill>
            <a:blip r:embed="rId6">
              <a:alphaModFix amt="6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4196051">
            <a:off x="14362916" y="7907052"/>
            <a:ext cx="6897972" cy="6872105"/>
          </a:xfrm>
          <a:custGeom>
            <a:avLst/>
            <a:gdLst/>
            <a:ahLst/>
            <a:cxnLst/>
            <a:rect l="l" t="t" r="r" b="b"/>
            <a:pathLst>
              <a:path w="6897972" h="6872105">
                <a:moveTo>
                  <a:pt x="0" y="0"/>
                </a:moveTo>
                <a:lnTo>
                  <a:pt x="6897973" y="0"/>
                </a:lnTo>
                <a:lnTo>
                  <a:pt x="6897973" y="6872105"/>
                </a:lnTo>
                <a:lnTo>
                  <a:pt x="0" y="6872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367890" y="1853938"/>
            <a:ext cx="9922747" cy="6390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Operational Efficiency:</a:t>
            </a:r>
          </a:p>
          <a:p>
            <a:r>
              <a:rPr lang="en-IN" sz="3170" dirty="0"/>
              <a:t>• Reduces manual packaging analysis time significantly</a:t>
            </a:r>
          </a:p>
          <a:p>
            <a:endParaRPr lang="en-IN" sz="3170" dirty="0"/>
          </a:p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Cost Optimization:</a:t>
            </a:r>
          </a:p>
          <a:p>
            <a:r>
              <a:rPr lang="en-IN" sz="3170" dirty="0"/>
              <a:t>• Helps businesses minimize packaging expenses</a:t>
            </a:r>
          </a:p>
          <a:p>
            <a:endParaRPr lang="en-IN" sz="3170" dirty="0"/>
          </a:p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Sustainability Impact:</a:t>
            </a:r>
          </a:p>
          <a:p>
            <a:r>
              <a:rPr lang="en-IN" sz="3170" dirty="0"/>
              <a:t>• Encourages use of eco-friendly materials</a:t>
            </a:r>
          </a:p>
          <a:p>
            <a:r>
              <a:rPr lang="en-IN" sz="3170" dirty="0"/>
              <a:t>• Supports ESG and sustainability goals</a:t>
            </a:r>
          </a:p>
          <a:p>
            <a:endParaRPr lang="en-IN" sz="3170" dirty="0"/>
          </a:p>
          <a:p>
            <a:r>
              <a:rPr lang="en-IN" sz="3170" dirty="0">
                <a:latin typeface="Poppins Bold" panose="020B0604020202020204" charset="0"/>
                <a:cs typeface="Poppins Bold" panose="020B0604020202020204" charset="0"/>
              </a:rPr>
              <a:t>Scalability:</a:t>
            </a:r>
          </a:p>
          <a:p>
            <a:r>
              <a:rPr lang="en-IN" sz="3170" dirty="0"/>
              <a:t>• Suitable for startups to large enterprises</a:t>
            </a:r>
          </a:p>
          <a:p>
            <a:pPr algn="just">
              <a:lnSpc>
                <a:spcPts val="4434"/>
              </a:lnSpc>
            </a:pPr>
            <a:endParaRPr lang="en-US" sz="3167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18618" y="1233089"/>
            <a:ext cx="5357578" cy="4649915"/>
          </a:xfrm>
          <a:prstGeom prst="rect">
            <a:avLst/>
          </a:prstGeom>
        </p:spPr>
      </p:pic>
      <p:sp>
        <p:nvSpPr>
          <p:cNvPr id="9" name="Freeform 9"/>
          <p:cNvSpPr/>
          <p:nvPr/>
        </p:nvSpPr>
        <p:spPr>
          <a:xfrm>
            <a:off x="15771557" y="736373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4" y="0"/>
                </a:lnTo>
                <a:lnTo>
                  <a:pt x="3294684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10" name="Freeform 10"/>
          <p:cNvSpPr/>
          <p:nvPr/>
        </p:nvSpPr>
        <p:spPr>
          <a:xfrm flipH="1">
            <a:off x="-587794" y="5743684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1" y="2904444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44873" t="-24274" r="-375601" b="-162264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722164">
            <a:off x="13238375" y="-2463214"/>
            <a:ext cx="8589997" cy="8557785"/>
          </a:xfrm>
          <a:custGeom>
            <a:avLst/>
            <a:gdLst/>
            <a:ahLst/>
            <a:cxnLst/>
            <a:rect l="l" t="t" r="r" b="b"/>
            <a:pathLst>
              <a:path w="8589997" h="8557785">
                <a:moveTo>
                  <a:pt x="0" y="0"/>
                </a:moveTo>
                <a:lnTo>
                  <a:pt x="8589997" y="0"/>
                </a:lnTo>
                <a:lnTo>
                  <a:pt x="8589997" y="8557784"/>
                </a:lnTo>
                <a:lnTo>
                  <a:pt x="0" y="855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2234655">
            <a:off x="-8837934" y="-154598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216163" y="518160"/>
            <a:ext cx="7855673" cy="1192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10"/>
              </a:lnSpc>
            </a:pPr>
            <a:r>
              <a:rPr lang="en-US" sz="90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Evaluation</a:t>
            </a:r>
          </a:p>
        </p:txBody>
      </p:sp>
      <p:sp>
        <p:nvSpPr>
          <p:cNvPr id="5" name="Freeform 5"/>
          <p:cNvSpPr/>
          <p:nvPr/>
        </p:nvSpPr>
        <p:spPr>
          <a:xfrm rot="1206534">
            <a:off x="-3925058" y="7539802"/>
            <a:ext cx="6897972" cy="6872105"/>
          </a:xfrm>
          <a:custGeom>
            <a:avLst/>
            <a:gdLst/>
            <a:ahLst/>
            <a:cxnLst/>
            <a:rect l="l" t="t" r="r" b="b"/>
            <a:pathLst>
              <a:path w="6897972" h="6872105">
                <a:moveTo>
                  <a:pt x="0" y="0"/>
                </a:moveTo>
                <a:lnTo>
                  <a:pt x="6897973" y="0"/>
                </a:lnTo>
                <a:lnTo>
                  <a:pt x="6897973" y="6872105"/>
                </a:lnTo>
                <a:lnTo>
                  <a:pt x="0" y="68721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151897"/>
            <a:ext cx="5513950" cy="1278044"/>
          </a:xfrm>
          <a:custGeom>
            <a:avLst/>
            <a:gdLst/>
            <a:ahLst/>
            <a:cxnLst/>
            <a:rect l="l" t="t" r="r" b="b"/>
            <a:pathLst>
              <a:path w="5513950" h="1278044">
                <a:moveTo>
                  <a:pt x="0" y="0"/>
                </a:moveTo>
                <a:lnTo>
                  <a:pt x="5513950" y="0"/>
                </a:lnTo>
                <a:lnTo>
                  <a:pt x="5513950" y="1278044"/>
                </a:lnTo>
                <a:lnTo>
                  <a:pt x="0" y="127804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7" name="Freeform 7"/>
          <p:cNvSpPr/>
          <p:nvPr/>
        </p:nvSpPr>
        <p:spPr>
          <a:xfrm rot="5400000" flipH="1">
            <a:off x="10951899" y="8316637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1" y="2904445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216991" y="2622870"/>
            <a:ext cx="7947138" cy="5041259"/>
          </a:xfrm>
          <a:custGeom>
            <a:avLst/>
            <a:gdLst/>
            <a:ahLst/>
            <a:cxnLst/>
            <a:rect l="l" t="t" r="r" b="b"/>
            <a:pathLst>
              <a:path w="7947138" h="5041259">
                <a:moveTo>
                  <a:pt x="0" y="0"/>
                </a:moveTo>
                <a:lnTo>
                  <a:pt x="7947137" y="0"/>
                </a:lnTo>
                <a:lnTo>
                  <a:pt x="7947137" y="5041260"/>
                </a:lnTo>
                <a:lnTo>
                  <a:pt x="0" y="504126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3125595"/>
            <a:ext cx="6626900" cy="43670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00"/>
              </a:lnSpc>
              <a:spcBef>
                <a:spcPct val="0"/>
              </a:spcBef>
            </a:pPr>
            <a:r>
              <a:rPr lang="en-US" sz="6214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F1_score: 0.9922</a:t>
            </a:r>
          </a:p>
          <a:p>
            <a:pPr algn="l">
              <a:lnSpc>
                <a:spcPts val="8700"/>
              </a:lnSpc>
              <a:spcBef>
                <a:spcPct val="0"/>
              </a:spcBef>
            </a:pPr>
            <a:r>
              <a:rPr lang="en-US" sz="6214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Precision : 0.9748</a:t>
            </a:r>
          </a:p>
          <a:p>
            <a:pPr algn="l">
              <a:lnSpc>
                <a:spcPts val="8700"/>
              </a:lnSpc>
              <a:spcBef>
                <a:spcPct val="0"/>
              </a:spcBef>
            </a:pPr>
            <a:r>
              <a:rPr lang="en-US" sz="6214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Recall : 0.9696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750662" y="-232038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547159">
            <a:off x="15264622" y="5435074"/>
            <a:ext cx="7568009" cy="7744570"/>
          </a:xfrm>
          <a:custGeom>
            <a:avLst/>
            <a:gdLst/>
            <a:ahLst/>
            <a:cxnLst/>
            <a:rect l="l" t="t" r="r" b="b"/>
            <a:pathLst>
              <a:path w="7568009" h="7744570">
                <a:moveTo>
                  <a:pt x="0" y="0"/>
                </a:moveTo>
                <a:lnTo>
                  <a:pt x="7568010" y="0"/>
                </a:lnTo>
                <a:lnTo>
                  <a:pt x="7568010" y="7744570"/>
                </a:lnTo>
                <a:lnTo>
                  <a:pt x="0" y="7744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309586" y="635385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1" y="2904445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387353" y="1490432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6" name="Freeform 6"/>
          <p:cNvSpPr/>
          <p:nvPr/>
        </p:nvSpPr>
        <p:spPr>
          <a:xfrm rot="-5025802">
            <a:off x="-2450586" y="-1683701"/>
            <a:ext cx="4272851" cy="4343933"/>
          </a:xfrm>
          <a:custGeom>
            <a:avLst/>
            <a:gdLst/>
            <a:ahLst/>
            <a:cxnLst/>
            <a:rect l="l" t="t" r="r" b="b"/>
            <a:pathLst>
              <a:path w="4272851" h="4343933">
                <a:moveTo>
                  <a:pt x="0" y="0"/>
                </a:moveTo>
                <a:lnTo>
                  <a:pt x="4272851" y="0"/>
                </a:lnTo>
                <a:lnTo>
                  <a:pt x="4272851" y="4343933"/>
                </a:lnTo>
                <a:lnTo>
                  <a:pt x="0" y="434393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148746" y="612090"/>
            <a:ext cx="13990509" cy="859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500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Future Scope &amp; Enhancements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313738" y="2187411"/>
            <a:ext cx="13660525" cy="5417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170" b="1" dirty="0" err="1"/>
              <a:t>EcoPackAI</a:t>
            </a:r>
            <a:r>
              <a:rPr lang="en-US" sz="3170" b="1" dirty="0"/>
              <a:t> can be extended with advanced capabilities such as:</a:t>
            </a:r>
          </a:p>
          <a:p>
            <a:endParaRPr lang="en-US" sz="3170" dirty="0"/>
          </a:p>
          <a:p>
            <a:r>
              <a:rPr lang="en-US" sz="3170" dirty="0"/>
              <a:t>• Carbon footprint estimation for packaging materials</a:t>
            </a:r>
          </a:p>
          <a:p>
            <a:r>
              <a:rPr lang="en-US" sz="3170" dirty="0"/>
              <a:t>• Supplier and vendor integration</a:t>
            </a:r>
          </a:p>
          <a:p>
            <a:r>
              <a:rPr lang="en-US" sz="3170" dirty="0"/>
              <a:t>• Real-time pricing and availability updates</a:t>
            </a:r>
          </a:p>
          <a:p>
            <a:r>
              <a:rPr lang="en-US" sz="3170" dirty="0"/>
              <a:t>• Advanced dashboards and analytics</a:t>
            </a:r>
          </a:p>
          <a:p>
            <a:r>
              <a:rPr lang="en-US" sz="3170" dirty="0"/>
              <a:t>• Integration with e-commerce and ERP systems</a:t>
            </a:r>
          </a:p>
          <a:p>
            <a:endParaRPr lang="en-US" sz="3170" dirty="0"/>
          </a:p>
          <a:p>
            <a:r>
              <a:rPr lang="en-US" sz="3170" dirty="0"/>
              <a:t>These enhancements can transform </a:t>
            </a:r>
            <a:r>
              <a:rPr lang="en-US" sz="3170" dirty="0" err="1"/>
              <a:t>EcoPackAI</a:t>
            </a:r>
            <a:r>
              <a:rPr lang="en-US" sz="3170" dirty="0"/>
              <a:t> into a full-scale sustainable packaging platform.</a:t>
            </a:r>
          </a:p>
          <a:p>
            <a:pPr algn="l">
              <a:lnSpc>
                <a:spcPts val="4597"/>
              </a:lnSpc>
            </a:pPr>
            <a:endParaRPr lang="en-US" sz="3284" dirty="0">
              <a:solidFill>
                <a:srgbClr val="000000"/>
              </a:solidFill>
              <a:latin typeface="Aileron"/>
              <a:ea typeface="Aileron"/>
              <a:cs typeface="Aileron"/>
              <a:sym typeface="Ailero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398840" y="-8433465"/>
            <a:ext cx="13622071" cy="13939871"/>
          </a:xfrm>
          <a:custGeom>
            <a:avLst/>
            <a:gdLst/>
            <a:ahLst/>
            <a:cxnLst/>
            <a:rect l="l" t="t" r="r" b="b"/>
            <a:pathLst>
              <a:path w="13622071" h="13939871">
                <a:moveTo>
                  <a:pt x="0" y="0"/>
                </a:moveTo>
                <a:lnTo>
                  <a:pt x="13622071" y="0"/>
                </a:lnTo>
                <a:lnTo>
                  <a:pt x="13622071" y="13939871"/>
                </a:lnTo>
                <a:lnTo>
                  <a:pt x="0" y="1393987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88768" y="4925372"/>
            <a:ext cx="6810382" cy="5361628"/>
          </a:xfrm>
          <a:custGeom>
            <a:avLst/>
            <a:gdLst/>
            <a:ahLst/>
            <a:cxnLst/>
            <a:rect l="l" t="t" r="r" b="b"/>
            <a:pathLst>
              <a:path w="6810382" h="5361628">
                <a:moveTo>
                  <a:pt x="0" y="0"/>
                </a:moveTo>
                <a:lnTo>
                  <a:pt x="6810382" y="0"/>
                </a:lnTo>
                <a:lnTo>
                  <a:pt x="6810382" y="5361628"/>
                </a:lnTo>
                <a:lnTo>
                  <a:pt x="0" y="53616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700000">
            <a:off x="-6139644" y="2602361"/>
            <a:ext cx="6522343" cy="6674508"/>
          </a:xfrm>
          <a:custGeom>
            <a:avLst/>
            <a:gdLst/>
            <a:ahLst/>
            <a:cxnLst/>
            <a:rect l="l" t="t" r="r" b="b"/>
            <a:pathLst>
              <a:path w="6522343" h="6674508">
                <a:moveTo>
                  <a:pt x="0" y="0"/>
                </a:moveTo>
                <a:lnTo>
                  <a:pt x="6522343" y="0"/>
                </a:lnTo>
                <a:lnTo>
                  <a:pt x="6522343" y="6674508"/>
                </a:lnTo>
                <a:lnTo>
                  <a:pt x="0" y="66745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-209960" y="-22479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4"/>
                </a:lnTo>
                <a:lnTo>
                  <a:pt x="2477320" y="2904444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6214906" y="8810761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4567564" y="712585"/>
            <a:ext cx="2221218" cy="514842"/>
          </a:xfrm>
          <a:custGeom>
            <a:avLst/>
            <a:gdLst/>
            <a:ahLst/>
            <a:cxnLst/>
            <a:rect l="l" t="t" r="r" b="b"/>
            <a:pathLst>
              <a:path w="2221218" h="514842">
                <a:moveTo>
                  <a:pt x="0" y="0"/>
                </a:moveTo>
                <a:lnTo>
                  <a:pt x="2221218" y="0"/>
                </a:lnTo>
                <a:lnTo>
                  <a:pt x="2221218" y="514842"/>
                </a:lnTo>
                <a:lnTo>
                  <a:pt x="0" y="5148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47252" y="457767"/>
            <a:ext cx="7193496" cy="134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72"/>
              </a:lnSpc>
            </a:pPr>
            <a:r>
              <a:rPr lang="en-US" sz="10174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03966" y="2207443"/>
            <a:ext cx="16411247" cy="3939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EcoPackAI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how Artificial Intelligence can be leveraged to solve real-world sustainability challenges.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machine learning with cost and sustainability analysis, the system empowers organizations to make smarter packaging decisions.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EcoPackAI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towards greener supply chains, reduced environmental impact, and improved operational efficiency.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4969521" y="-9852856"/>
            <a:ext cx="12704157" cy="13000542"/>
          </a:xfrm>
          <a:custGeom>
            <a:avLst/>
            <a:gdLst/>
            <a:ahLst/>
            <a:cxnLst/>
            <a:rect l="l" t="t" r="r" b="b"/>
            <a:pathLst>
              <a:path w="12704157" h="13000542">
                <a:moveTo>
                  <a:pt x="12704157" y="0"/>
                </a:moveTo>
                <a:lnTo>
                  <a:pt x="0" y="0"/>
                </a:lnTo>
                <a:lnTo>
                  <a:pt x="0" y="13000543"/>
                </a:lnTo>
                <a:lnTo>
                  <a:pt x="12704157" y="13000543"/>
                </a:lnTo>
                <a:lnTo>
                  <a:pt x="1270415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993428">
            <a:off x="7363207" y="577593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1" y="0"/>
                </a:lnTo>
                <a:lnTo>
                  <a:pt x="15359471" y="15080207"/>
                </a:lnTo>
                <a:lnTo>
                  <a:pt x="0" y="15080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6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0113352" y="2335975"/>
            <a:ext cx="7145948" cy="5781721"/>
          </a:xfrm>
          <a:custGeom>
            <a:avLst/>
            <a:gdLst/>
            <a:ahLst/>
            <a:cxnLst/>
            <a:rect l="l" t="t" r="r" b="b"/>
            <a:pathLst>
              <a:path w="7145948" h="5781721">
                <a:moveTo>
                  <a:pt x="0" y="0"/>
                </a:moveTo>
                <a:lnTo>
                  <a:pt x="7145948" y="0"/>
                </a:lnTo>
                <a:lnTo>
                  <a:pt x="7145948" y="5781721"/>
                </a:lnTo>
                <a:lnTo>
                  <a:pt x="0" y="57817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79445" y="3800698"/>
            <a:ext cx="7595451" cy="12169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7"/>
              </a:lnSpc>
            </a:pPr>
            <a:r>
              <a:rPr lang="en-US" sz="9199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79445" y="5224446"/>
            <a:ext cx="8058716" cy="1050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"Sustainability is no longer a choice, it is a responsibility."</a:t>
            </a:r>
          </a:p>
        </p:txBody>
      </p:sp>
      <p:sp>
        <p:nvSpPr>
          <p:cNvPr id="7" name="Freeform 7"/>
          <p:cNvSpPr/>
          <p:nvPr/>
        </p:nvSpPr>
        <p:spPr>
          <a:xfrm>
            <a:off x="8074378" y="1621778"/>
            <a:ext cx="4923444" cy="1141174"/>
          </a:xfrm>
          <a:custGeom>
            <a:avLst/>
            <a:gdLst/>
            <a:ahLst/>
            <a:cxnLst/>
            <a:rect l="l" t="t" r="r" b="b"/>
            <a:pathLst>
              <a:path w="4923444" h="1141174">
                <a:moveTo>
                  <a:pt x="0" y="0"/>
                </a:moveTo>
                <a:lnTo>
                  <a:pt x="4923444" y="0"/>
                </a:lnTo>
                <a:lnTo>
                  <a:pt x="4923444" y="1141174"/>
                </a:lnTo>
                <a:lnTo>
                  <a:pt x="0" y="114117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-1482822" y="6536964"/>
            <a:ext cx="3933299" cy="911675"/>
          </a:xfrm>
          <a:custGeom>
            <a:avLst/>
            <a:gdLst/>
            <a:ahLst/>
            <a:cxnLst/>
            <a:rect l="l" t="t" r="r" b="b"/>
            <a:pathLst>
              <a:path w="3933299" h="911675">
                <a:moveTo>
                  <a:pt x="0" y="0"/>
                </a:moveTo>
                <a:lnTo>
                  <a:pt x="3933299" y="0"/>
                </a:lnTo>
                <a:lnTo>
                  <a:pt x="3933299" y="911675"/>
                </a:lnTo>
                <a:lnTo>
                  <a:pt x="0" y="9116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9" name="Freeform 9"/>
          <p:cNvSpPr/>
          <p:nvPr/>
        </p:nvSpPr>
        <p:spPr>
          <a:xfrm flipH="1">
            <a:off x="7039580" y="6097545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10" name="Freeform 10"/>
          <p:cNvSpPr/>
          <p:nvPr/>
        </p:nvSpPr>
        <p:spPr>
          <a:xfrm rot="3548367" flipH="1">
            <a:off x="17325691" y="5741561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0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0" y="2904445"/>
                </a:lnTo>
                <a:lnTo>
                  <a:pt x="247732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11" name="Freeform 11"/>
          <p:cNvSpPr/>
          <p:nvPr/>
        </p:nvSpPr>
        <p:spPr>
          <a:xfrm rot="257745" flipH="1">
            <a:off x="1728509" y="9052623"/>
            <a:ext cx="6531409" cy="6683785"/>
          </a:xfrm>
          <a:custGeom>
            <a:avLst/>
            <a:gdLst/>
            <a:ahLst/>
            <a:cxnLst/>
            <a:rect l="l" t="t" r="r" b="b"/>
            <a:pathLst>
              <a:path w="6531409" h="6683785">
                <a:moveTo>
                  <a:pt x="6531409" y="0"/>
                </a:moveTo>
                <a:lnTo>
                  <a:pt x="0" y="0"/>
                </a:lnTo>
                <a:lnTo>
                  <a:pt x="0" y="6683785"/>
                </a:lnTo>
                <a:lnTo>
                  <a:pt x="6531409" y="6683785"/>
                </a:lnTo>
                <a:lnTo>
                  <a:pt x="65314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 rot="257745" flipH="1">
            <a:off x="16101223" y="-5047299"/>
            <a:ext cx="6531409" cy="6683785"/>
          </a:xfrm>
          <a:custGeom>
            <a:avLst/>
            <a:gdLst/>
            <a:ahLst/>
            <a:cxnLst/>
            <a:rect l="l" t="t" r="r" b="b"/>
            <a:pathLst>
              <a:path w="6531409" h="6683785">
                <a:moveTo>
                  <a:pt x="6531409" y="0"/>
                </a:moveTo>
                <a:lnTo>
                  <a:pt x="0" y="0"/>
                </a:lnTo>
                <a:lnTo>
                  <a:pt x="0" y="6683786"/>
                </a:lnTo>
                <a:lnTo>
                  <a:pt x="6531409" y="6683786"/>
                </a:lnTo>
                <a:lnTo>
                  <a:pt x="653140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431</Words>
  <Application>Microsoft Office PowerPoint</Application>
  <PresentationFormat>Custom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Aileron Bold</vt:lpstr>
      <vt:lpstr>Aileron</vt:lpstr>
      <vt:lpstr>Poppins Semi-Bold</vt:lpstr>
      <vt:lpstr>Times New Roman</vt:lpstr>
      <vt:lpstr>Poppins</vt:lpstr>
      <vt:lpstr>Calibri</vt:lpstr>
      <vt:lpstr>Poppins Bold</vt:lpstr>
      <vt:lpstr>Arial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FinanceInsight Presentation</dc:title>
  <cp:lastModifiedBy>gajawada jayanth</cp:lastModifiedBy>
  <cp:revision>5</cp:revision>
  <dcterms:created xsi:type="dcterms:W3CDTF">2006-08-16T00:00:00Z</dcterms:created>
  <dcterms:modified xsi:type="dcterms:W3CDTF">2026-01-17T15:45:45Z</dcterms:modified>
  <dc:identifier>DAG5hZ5YfMw</dc:identifier>
</cp:coreProperties>
</file>